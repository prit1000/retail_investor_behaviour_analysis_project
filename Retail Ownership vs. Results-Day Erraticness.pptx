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05" r:id="rId2"/>
    <p:sldId id="308" r:id="rId3"/>
    <p:sldId id="297" r:id="rId4"/>
    <p:sldId id="306" r:id="rId5"/>
    <p:sldId id="310" r:id="rId6"/>
    <p:sldId id="301" r:id="rId7"/>
    <p:sldId id="311" r:id="rId8"/>
    <p:sldId id="3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A6A6A6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F6FB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093-410D-AB8F-63A35C3A5C51}"/>
              </c:ext>
            </c:extLst>
          </c:dPt>
          <c:dLbls>
            <c:numFmt formatCode="&quot;n = &quot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strLit>
          </c:cat>
          <c:val>
            <c:numLit>
              <c:formatCode>General</c:formatCode>
              <c:ptCount val="3"/>
              <c:pt idx="0">
                <c:v>20</c:v>
              </c:pt>
              <c:pt idx="1">
                <c:v>80</c:v>
              </c:pt>
              <c:pt idx="2">
                <c:v>60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093-410D-AB8F-63A35C3A5C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CCCCC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 Band"/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8F188-9486-A45A-30DA-84F4DA903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00000"/>
            <a:ext cx="10363200" cy="1900000"/>
          </a:xfrm>
        </p:spPr>
        <p:txBody>
          <a:bodyPr anchor="b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55FC7-BF84-2240-B9B6-2D81BE23B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750000"/>
            <a:ext cx="10363200" cy="1200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1DF30-7033-FF4A-63CC-5A5D691F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E621D-6A25-2377-0712-24EFC595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DBD0-6281-9AFB-97E5-FA4C86B1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97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BE87-9C56-EB31-5FE6-BD2278E9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6C428-E874-7BE8-C829-6BA504CC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9CFE-0EEF-5EB0-1B59-3003B279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B0517-3387-68CC-1365-F98BAC25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BCCF5-C77B-1A6E-DCE1-300A8E16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80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82461-F976-B530-DF75-8328BB14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C1A3B-2353-6368-91E8-3A5CFBC5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99075-E273-4355-6358-A83364FA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04B6B-4986-466E-70EB-FAE98738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A9207-93FB-97B7-A555-F6E87102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18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AEF9-2D89-8743-1E45-5FAFD700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8F55C-B449-1E64-01E3-641DC29B3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E9054-1342-7736-1774-BCD9F159B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65411-70D4-4696-91EC-8E87BDC0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897E0-0E06-412B-797D-8A35B391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CFA49-E139-63F7-61E9-3B337E32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240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486E-C97F-794E-7A17-ECC1A30BB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00255-5C63-4CCC-B245-A6F8F4344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8EFFB-49F8-6247-F99E-6AF50FCE5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DAB3B-98D9-EDA0-D273-930D2E31E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06BA9-C4F6-84B4-3DE9-726A8C753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42C43-36D6-181C-4856-AF1BB700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BDCF3-7EAA-5E77-2EE5-EDF8D5B03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B7D99-FA95-B2CB-886E-B8C0B127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92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AA6C-2B7F-4275-9195-35053008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913E4-635E-B8F1-6B58-C5A7A104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24B09-05E7-9EA9-D37F-FE5D1582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D51B8-53CC-365D-8D97-DE913BA5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206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EAADB-6D73-1B1C-0375-4CEF2700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CF7A5-98D1-01D4-B8AD-46795FDD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83BA7-E863-7215-63E2-1A5BC054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13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2D2D-6512-2EBD-D7DD-A94CFBFF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8C0B7-76D0-302B-281E-437C0D40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562F1-2C37-CB11-368C-60AC38C08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6BB0-D0EC-2909-1446-8325B163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144F4-ED78-8A73-9EBF-DF2F27D0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26D8C-CB59-F7A8-4B75-13828ABE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1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0ABD-4A3A-1091-E78D-FAB38674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CBD09-6B94-5512-DFC6-4E61D58008A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EC4EC-CCA7-241C-B00D-8E116BBC9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6D688-7E29-E327-4FBC-C55CB236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1E4D8-B1AE-F026-C582-23B1FE76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4C89C-822B-47EA-ADDC-692842B1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3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3D5BF-4FF1-18A5-FD15-046E8306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FEE56-0622-B5EE-6BC7-9861F037B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0EF90-EF66-A90C-6D5F-6729E181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D91D-C42B-CCEF-0028-6307EF59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DF85D-8377-A593-1598-B8089D0D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45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01DE75-50C2-8DF4-3CF4-9D086FDC1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08211-1C8E-9741-1011-81B63128D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E42E6-A9E8-8110-230F-6900C54B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FB4FA-7E0C-97CA-3B19-56DD91D4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1F67-346D-4F04-7327-1BC6F6FA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28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A4F80-9B88-7984-0AB5-07F0D0A5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600" cy="1005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D2C28-0FE4-5AA9-2638-627D27DE4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63040"/>
            <a:ext cx="11277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5EF67-F665-0922-8895-A7231152E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AFA0C-A5EF-4AE4-9CC7-271348BB39C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D58AD-0C14-DC2B-4133-EF73D35C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B3E8C-D400-6BDA-261E-F4BED1D80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E40A9-BC07-4EDC-85D2-F5185FD1E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4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panel"/>
          <p:cNvSpPr/>
          <p:nvPr/>
        </p:nvSpPr>
        <p:spPr>
          <a:xfrm>
            <a:off x="711200" y="1422400"/>
            <a:ext cx="10769600" cy="381000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FFFF">
                  <a:alpha val="78000"/>
                </a:srgbClr>
              </a:gs>
              <a:gs pos="100000">
                <a:srgbClr val="FFFFFF">
                  <a:alpha val="52000"/>
                </a:srgbClr>
              </a:gs>
            </a:gsLst>
            <a:lin ang="5400000" scaled="0"/>
          </a:gradFill>
          <a:ln w="15875"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35000"/>
                  </a:srgbClr>
                </a:gs>
              </a:gsLst>
              <a:lin ang="2700000" scaled="0"/>
            </a:gradFill>
          </a:ln>
          <a:effectLst>
            <a:outerShdw blurRad="457200" dist="177800" dir="5400000" algn="t" rotWithShape="0">
              <a:srgbClr val="3B3226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itle pill"/>
          <p:cNvSpPr/>
          <p:nvPr/>
        </p:nvSpPr>
        <p:spPr>
          <a:xfrm>
            <a:off x="1016000" y="1206500"/>
            <a:ext cx="2921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RCA REPORT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F2994-808D-861E-DC63-E929087AC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Retail Ownership vs. Results-Day </a:t>
            </a:r>
            <a:r>
              <a:rPr lang="en-US" dirty="0" err="1"/>
              <a:t>Erraticness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17AA2-7915-8253-E74A-B284EC8E3A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Root cause analysis of the null Mann-Whitney U result
Retail Investor Behavior Analysis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803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ummary panel"/>
          <p:cNvSpPr/>
          <p:nvPr/>
        </p:nvSpPr>
        <p:spPr>
          <a:xfrm>
            <a:off x="457200" y="1549400"/>
            <a:ext cx="11277600" cy="472440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FFFF">
                  <a:alpha val="78000"/>
                </a:srgbClr>
              </a:gs>
              <a:gs pos="100000">
                <a:srgbClr val="FFFFFF">
                  <a:alpha val="52000"/>
                </a:srgbClr>
              </a:gs>
            </a:gsLst>
            <a:lin ang="5400000" scaled="0"/>
          </a:gradFill>
          <a:ln w="15875"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35000"/>
                  </a:srgbClr>
                </a:gs>
              </a:gsLst>
              <a:lin ang="2700000" scaled="0"/>
            </a:gradFill>
          </a:ln>
          <a:effectLst>
            <a:outerShdw blurRad="457200" dist="177800" dir="5400000" algn="t" rotWithShape="0">
              <a:srgbClr val="3B3226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Summary pill"/>
          <p:cNvSpPr/>
          <p:nvPr/>
        </p:nvSpPr>
        <p:spPr>
          <a:xfrm>
            <a:off x="762000" y="1333500"/>
            <a:ext cx="2159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KEY FINDINGS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E8101-7979-240A-E188-76E853AC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Executive summary</a:t>
            </a:r>
          </a:p>
        </p:txBody>
      </p:sp>
      <p:sp>
        <p:nvSpPr>
          <p:cNvPr id="102" name="Finding row 1"/>
          <p:cNvSpPr/>
          <p:nvPr/>
        </p:nvSpPr>
        <p:spPr>
          <a:xfrm>
            <a:off x="660400" y="1879600"/>
            <a:ext cx="10871200" cy="762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838200" tIns="50800" rIns="2032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262626"/>
                </a:solidFill>
              </a:rPr>
              <a:t>No significant difference: </a:t>
            </a:r>
            <a:r>
              <a:rPr lang="en-US" sz="1700" b="0" dirty="0">
                <a:solidFill>
                  <a:srgbClr val="262626"/>
                </a:solidFill>
              </a:rPr>
              <a:t>High- and Low-retail stocks match on every erraticness metric (all p ≥ 0.058); Low runs slightly higher.</a:t>
            </a:r>
          </a:p>
        </p:txBody>
      </p:sp>
      <p:sp>
        <p:nvSpPr>
          <p:cNvPr id="103" name="Finding badge 1"/>
          <p:cNvSpPr/>
          <p:nvPr/>
        </p:nvSpPr>
        <p:spPr>
          <a:xfrm>
            <a:off x="838200" y="2019300"/>
            <a:ext cx="482600" cy="482600"/>
          </a:xfrm>
          <a:prstGeom prst="ellipse">
            <a:avLst/>
          </a:prstGeom>
          <a:solidFill>
            <a:srgbClr val="1F6FB4"/>
          </a:solidFill>
          <a:ln>
            <a:noFill/>
          </a:ln>
          <a:effectLst>
            <a:outerShdw blurRad="76200" dist="25400" dir="5400000" algn="t" rotWithShape="0">
              <a:srgbClr val="3B3226">
                <a:alpha val="25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" name="Finding row 2"/>
          <p:cNvSpPr/>
          <p:nvPr/>
        </p:nvSpPr>
        <p:spPr>
          <a:xfrm>
            <a:off x="660400" y="2743200"/>
            <a:ext cx="10871200" cy="762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838200" tIns="50800" rIns="2032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262626"/>
                </a:solidFill>
              </a:rPr>
              <a:t>Wrong variable: </a:t>
            </a:r>
            <a:r>
              <a:rPr lang="en-US" sz="1700" b="0" dirty="0">
                <a:solidFill>
                  <a:srgbClr val="262626"/>
                </a:solidFill>
              </a:rPr>
              <a:t>DII ownership, not retail, is significant for realized volatility (p = 0.022 at ±3d, p &lt; 0.001 at ±5d).</a:t>
            </a:r>
          </a:p>
        </p:txBody>
      </p:sp>
      <p:sp>
        <p:nvSpPr>
          <p:cNvPr id="105" name="Finding badge 2"/>
          <p:cNvSpPr/>
          <p:nvPr/>
        </p:nvSpPr>
        <p:spPr>
          <a:xfrm>
            <a:off x="838200" y="2882900"/>
            <a:ext cx="482600" cy="482600"/>
          </a:xfrm>
          <a:prstGeom prst="ellipse">
            <a:avLst/>
          </a:prstGeom>
          <a:solidFill>
            <a:srgbClr val="1F6FB4"/>
          </a:solidFill>
          <a:ln>
            <a:noFill/>
          </a:ln>
          <a:effectLst>
            <a:outerShdw blurRad="76200" dist="25400" dir="5400000" algn="t" rotWithShape="0">
              <a:srgbClr val="3B3226">
                <a:alpha val="25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6" name="Finding row 3"/>
          <p:cNvSpPr/>
          <p:nvPr/>
        </p:nvSpPr>
        <p:spPr>
          <a:xfrm>
            <a:off x="660400" y="3606800"/>
            <a:ext cx="10871200" cy="762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838200" tIns="50800" rIns="2032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262626"/>
                </a:solidFill>
              </a:rPr>
              <a:t>Noise in the comparison: </a:t>
            </a:r>
            <a:r>
              <a:rPr lang="en-US" sz="1700" b="0" dirty="0">
                <a:solidFill>
                  <a:srgbClr val="262626"/>
                </a:solidFill>
              </a:rPr>
              <a:t>a year effect on price range, and a signal that sits only in the ±3d window.</a:t>
            </a:r>
          </a:p>
        </p:txBody>
      </p:sp>
      <p:sp>
        <p:nvSpPr>
          <p:cNvPr id="107" name="Finding badge 3"/>
          <p:cNvSpPr/>
          <p:nvPr/>
        </p:nvSpPr>
        <p:spPr>
          <a:xfrm>
            <a:off x="838200" y="3746500"/>
            <a:ext cx="482600" cy="482600"/>
          </a:xfrm>
          <a:prstGeom prst="ellipse">
            <a:avLst/>
          </a:prstGeom>
          <a:solidFill>
            <a:srgbClr val="1F6FB4"/>
          </a:solidFill>
          <a:ln>
            <a:noFill/>
          </a:ln>
          <a:effectLst>
            <a:outerShdw blurRad="76200" dist="25400" dir="5400000" algn="t" rotWithShape="0">
              <a:srgbClr val="3B3226">
                <a:alpha val="25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8" name="Finding row 4"/>
          <p:cNvSpPr/>
          <p:nvPr/>
        </p:nvSpPr>
        <p:spPr>
          <a:xfrm>
            <a:off x="660400" y="4470400"/>
            <a:ext cx="10871200" cy="762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838200" tIns="50800" rIns="2032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262626"/>
                </a:solidFill>
              </a:rPr>
              <a:t>Not a sector effect: </a:t>
            </a:r>
            <a:r>
              <a:rPr lang="en-US" sz="1700" b="0" dirty="0">
                <a:solidFill>
                  <a:srgbClr val="262626"/>
                </a:solidFill>
              </a:rPr>
              <a:t>all 6 sector × bucket comparisons give p = 0.45 to 0.66.</a:t>
            </a:r>
          </a:p>
        </p:txBody>
      </p:sp>
      <p:sp>
        <p:nvSpPr>
          <p:cNvPr id="109" name="Finding badge 4"/>
          <p:cNvSpPr/>
          <p:nvPr/>
        </p:nvSpPr>
        <p:spPr>
          <a:xfrm>
            <a:off x="838200" y="4610100"/>
            <a:ext cx="482600" cy="482600"/>
          </a:xfrm>
          <a:prstGeom prst="ellipse">
            <a:avLst/>
          </a:prstGeom>
          <a:solidFill>
            <a:srgbClr val="1F6FB4"/>
          </a:solidFill>
          <a:ln>
            <a:noFill/>
          </a:ln>
          <a:effectLst>
            <a:outerShdw blurRad="76200" dist="25400" dir="5400000" algn="t" rotWithShape="0">
              <a:srgbClr val="3B3226">
                <a:alpha val="25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0" name="Finding row 5"/>
          <p:cNvSpPr/>
          <p:nvPr/>
        </p:nvSpPr>
        <p:spPr>
          <a:xfrm>
            <a:off x="660400" y="5334000"/>
            <a:ext cx="10871200" cy="762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838200" tIns="50800" rIns="2032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262626"/>
                </a:solidFill>
              </a:rPr>
              <a:t>Still open: </a:t>
            </a:r>
            <a:r>
              <a:rPr lang="en-US" sz="1700" b="0" dirty="0">
                <a:solidFill>
                  <a:srgbClr val="262626"/>
                </a:solidFill>
              </a:rPr>
              <a:t>why Low leads High. A ticker-level check of the High bucket is the next step.</a:t>
            </a:r>
          </a:p>
        </p:txBody>
      </p:sp>
      <p:sp>
        <p:nvSpPr>
          <p:cNvPr id="111" name="Finding badge 5"/>
          <p:cNvSpPr/>
          <p:nvPr/>
        </p:nvSpPr>
        <p:spPr>
          <a:xfrm>
            <a:off x="838200" y="5473700"/>
            <a:ext cx="482600" cy="482600"/>
          </a:xfrm>
          <a:prstGeom prst="ellipse">
            <a:avLst/>
          </a:prstGeom>
          <a:solidFill>
            <a:srgbClr val="1F6FB4"/>
          </a:solidFill>
          <a:ln>
            <a:noFill/>
          </a:ln>
          <a:effectLst>
            <a:outerShdw blurRad="76200" dist="25400" dir="5400000" algn="t" rotWithShape="0">
              <a:srgbClr val="3B3226">
                <a:alpha val="25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233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7A0F-4187-C73A-A995-B8763FEA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 metric separated High- from Low-retail stocks, and the gap leaned the wrong way</a:t>
            </a:r>
            <a:endParaRPr lang="en-IN"/>
          </a:p>
        </p:txBody>
      </p:sp>
      <p:sp>
        <p:nvSpPr>
          <p:cNvPr id="17" name="Source"/>
          <p:cNvSpPr txBox="1"/>
          <p:nvPr/>
        </p:nvSpPr>
        <p:spPr>
          <a:xfrm>
            <a:off x="457200" y="6273800"/>
            <a:ext cx="11277600" cy="2286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666666"/>
                </a:solidFill>
              </a:rPr>
              <a:t>Source: RCA report, Retail Investor Behavior Analysis. Mann-Whitney U, High vs Low retail-ownership buckets.</a:t>
            </a:r>
          </a:p>
        </p:txBody>
      </p:sp>
      <p:sp>
        <p:nvSpPr>
          <p:cNvPr id="100" name="Stat card"/>
          <p:cNvSpPr/>
          <p:nvPr/>
        </p:nvSpPr>
        <p:spPr>
          <a:xfrm>
            <a:off x="457200" y="1778000"/>
            <a:ext cx="4927600" cy="42418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355600" tIns="508000" rIns="304800" bIns="5080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5600" b="1" dirty="0">
                <a:solidFill>
                  <a:srgbClr val="1F6FB4"/>
                </a:solidFill>
              </a:rPr>
              <a:t>p ≥ 0.058</a:t>
            </a:r>
          </a:p>
          <a:p>
            <a:pPr algn="l">
              <a:spcBef>
                <a:spcPts val="1600"/>
              </a:spcBef>
              <a:buNone/>
            </a:pPr>
            <a:r>
              <a:rPr lang="en-US" sz="1900" b="0" dirty="0">
                <a:solidFill>
                  <a:srgbClr val="262626"/>
                </a:solidFill>
              </a:rPr>
              <a:t>Smallest Mann-Whitney U p-value across every erraticness metric at both the ±3d and ±5d windows. A significant result needs p &lt; 0.05.</a:t>
            </a:r>
          </a:p>
        </p:txBody>
      </p:sp>
      <p:sp>
        <p:nvSpPr>
          <p:cNvPr id="101" name="Stat pill"/>
          <p:cNvSpPr/>
          <p:nvPr/>
        </p:nvSpPr>
        <p:spPr>
          <a:xfrm>
            <a:off x="711200" y="1562100"/>
            <a:ext cx="2413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MANN-WHITNEY U</a:t>
            </a:r>
          </a:p>
        </p:txBody>
      </p:sp>
      <p:sp>
        <p:nvSpPr>
          <p:cNvPr id="102" name="H1 card"/>
          <p:cNvSpPr/>
          <p:nvPr/>
        </p:nvSpPr>
        <p:spPr>
          <a:xfrm>
            <a:off x="5689600" y="1778000"/>
            <a:ext cx="6045200" cy="2032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355600" tIns="279400" rIns="3048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2626"/>
                </a:solidFill>
              </a:rPr>
              <a:t>High-retail stocks show bigger volume spikes, wider price ranges and higher volatility around quarterly results.</a:t>
            </a:r>
          </a:p>
        </p:txBody>
      </p:sp>
      <p:sp>
        <p:nvSpPr>
          <p:cNvPr id="103" name="H1 pill"/>
          <p:cNvSpPr/>
          <p:nvPr/>
        </p:nvSpPr>
        <p:spPr>
          <a:xfrm>
            <a:off x="5943600" y="1562100"/>
            <a:ext cx="2159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H1 PREDICTED</a:t>
            </a:r>
          </a:p>
        </p:txBody>
      </p:sp>
      <p:sp>
        <p:nvSpPr>
          <p:cNvPr id="104" name="Result card"/>
          <p:cNvSpPr/>
          <p:nvPr/>
        </p:nvSpPr>
        <p:spPr>
          <a:xfrm>
            <a:off x="5689600" y="4064000"/>
            <a:ext cx="6045200" cy="19558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355600" tIns="279400" rIns="3048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2626"/>
                </a:solidFill>
              </a:rPr>
              <a:t>Where a trend existed, </a:t>
            </a:r>
            <a:r>
              <a:rPr lang="en-US" sz="2000" b="1" dirty="0">
                <a:solidFill>
                  <a:srgbClr val="262626"/>
                </a:solidFill>
              </a:rPr>
              <a:t>Low-retail medians were higher than High-retail</a:t>
            </a:r>
            <a:r>
              <a:rPr lang="en-US" sz="2000" b="0" dirty="0">
                <a:solidFill>
                  <a:srgbClr val="262626"/>
                </a:solidFill>
              </a:rPr>
              <a:t>, the opposite of H1.</a:t>
            </a:r>
          </a:p>
        </p:txBody>
      </p:sp>
      <p:sp>
        <p:nvSpPr>
          <p:cNvPr id="105" name="Result pill"/>
          <p:cNvSpPr/>
          <p:nvPr/>
        </p:nvSpPr>
        <p:spPr>
          <a:xfrm>
            <a:off x="5943600" y="3848100"/>
            <a:ext cx="2159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B5530F"/>
                </a:solidFill>
              </a:rPr>
              <a:t>DATA SHOWED</a:t>
            </a:r>
          </a:p>
        </p:txBody>
      </p:sp>
    </p:spTree>
    <p:extLst>
      <p:ext uri="{BB962C8B-B14F-4D97-AF65-F5344CB8AC3E}">
        <p14:creationId xmlns:p14="http://schemas.microsoft.com/office/powerpoint/2010/main" val="2067223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able panel"/>
          <p:cNvSpPr/>
          <p:nvPr/>
        </p:nvSpPr>
        <p:spPr>
          <a:xfrm>
            <a:off x="457200" y="1778000"/>
            <a:ext cx="7061200" cy="396240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FFFF">
                  <a:alpha val="78000"/>
                </a:srgbClr>
              </a:gs>
              <a:gs pos="100000">
                <a:srgbClr val="FFFFFF">
                  <a:alpha val="52000"/>
                </a:srgbClr>
              </a:gs>
            </a:gsLst>
            <a:lin ang="5400000" scaled="0"/>
          </a:gradFill>
          <a:ln w="15875"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35000"/>
                  </a:srgbClr>
                </a:gs>
              </a:gsLst>
              <a:lin ang="2700000" scaled="0"/>
            </a:gradFill>
          </a:ln>
          <a:effectLst>
            <a:outerShdw blurRad="457200" dist="177800" dir="5400000" algn="t" rotWithShape="0">
              <a:srgbClr val="3B3226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DE8A5-EA16-6347-4556-57976D4C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DII ownership, not retail ownership, carries the significant link to volatility</a:t>
            </a:r>
            <a:endParaRPr lang="en-IN"/>
          </a:p>
        </p:txBody>
      </p:sp>
      <p:graphicFrame>
        <p:nvGraphicFramePr>
          <p:cNvPr id="11" name="OLS table"/>
          <p:cNvGraphicFramePr>
            <a:graphicFrameLocks noGrp="1"/>
          </p:cNvGraphicFramePr>
          <p:nvPr/>
        </p:nvGraphicFramePr>
        <p:xfrm>
          <a:off x="647700" y="2184400"/>
          <a:ext cx="6680200" cy="3175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Variable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±3d window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±5d window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Significant?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333333"/>
                          </a:solidFill>
                        </a:rPr>
                        <a:t>public_retail_pct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0.841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0.476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dii_pct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0.022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&lt; 0.001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Yes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ource"/>
          <p:cNvSpPr txBox="1"/>
          <p:nvPr/>
        </p:nvSpPr>
        <p:spPr>
          <a:xfrm>
            <a:off x="457200" y="6273800"/>
            <a:ext cx="11277600" cy="2286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666666"/>
                </a:solidFill>
              </a:rPr>
              <a:t>Source: RCA report, Retail Investor Behavior Analysis. OLS on realized_vol; controls: promoter_pct, fii_pct, dii_pct.</a:t>
            </a:r>
          </a:p>
        </p:txBody>
      </p:sp>
      <p:sp>
        <p:nvSpPr>
          <p:cNvPr id="101" name="Table pill"/>
          <p:cNvSpPr/>
          <p:nvPr/>
        </p:nvSpPr>
        <p:spPr>
          <a:xfrm>
            <a:off x="711200" y="1562100"/>
            <a:ext cx="3810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P-VALUE BY OWNERSHIP TYPE</a:t>
            </a:r>
          </a:p>
        </p:txBody>
      </p:sp>
      <p:sp>
        <p:nvSpPr>
          <p:cNvPr id="102" name="Comment card 1"/>
          <p:cNvSpPr/>
          <p:nvPr/>
        </p:nvSpPr>
        <p:spPr>
          <a:xfrm>
            <a:off x="7772400" y="1778000"/>
            <a:ext cx="39624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228600" tIns="50800" rIns="1778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62626"/>
                </a:solidFill>
              </a:rPr>
              <a:t>DII ownership</a:t>
            </a:r>
            <a:r>
              <a:rPr lang="en-US" sz="1600" b="0" dirty="0">
                <a:solidFill>
                  <a:srgbClr val="262626"/>
                </a:solidFill>
              </a:rPr>
              <a:t> has a significant negative relationship with realized volatility.</a:t>
            </a:r>
          </a:p>
        </p:txBody>
      </p:sp>
      <p:sp>
        <p:nvSpPr>
          <p:cNvPr id="103" name="Comment card 2"/>
          <p:cNvSpPr/>
          <p:nvPr/>
        </p:nvSpPr>
        <p:spPr>
          <a:xfrm>
            <a:off x="7772400" y="3149600"/>
            <a:ext cx="39624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228600" tIns="50800" rIns="1778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62626"/>
                </a:solidFill>
              </a:rPr>
              <a:t>Retail ownership</a:t>
            </a:r>
            <a:r>
              <a:rPr lang="en-US" sz="1600" b="0" dirty="0">
                <a:solidFill>
                  <a:srgbClr val="262626"/>
                </a:solidFill>
              </a:rPr>
              <a:t> stays non-significant with promoter, FII and DII held constant.</a:t>
            </a:r>
          </a:p>
        </p:txBody>
      </p:sp>
      <p:sp>
        <p:nvSpPr>
          <p:cNvPr id="104" name="Comment card 3"/>
          <p:cNvSpPr/>
          <p:nvPr/>
        </p:nvSpPr>
        <p:spPr>
          <a:xfrm>
            <a:off x="7772400" y="4521200"/>
            <a:ext cx="39624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228600" tIns="50800" rIns="177800" bIns="5080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62626"/>
                </a:solidFill>
              </a:rPr>
              <a:t>This replaces "nothing happened" with a testable result,</a:t>
            </a:r>
            <a:r>
              <a:rPr lang="en-US" sz="1600" b="0" dirty="0">
                <a:solidFill>
                  <a:srgbClr val="262626"/>
                </a:solidFill>
              </a:rPr>
              <a:t> and it leads the Discussion.</a:t>
            </a:r>
          </a:p>
        </p:txBody>
      </p:sp>
    </p:spTree>
    <p:extLst>
      <p:ext uri="{BB962C8B-B14F-4D97-AF65-F5344CB8AC3E}">
        <p14:creationId xmlns:p14="http://schemas.microsoft.com/office/powerpoint/2010/main" val="234385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hart panel"/>
          <p:cNvSpPr/>
          <p:nvPr/>
        </p:nvSpPr>
        <p:spPr>
          <a:xfrm>
            <a:off x="457200" y="1778000"/>
            <a:ext cx="6451600" cy="424180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FFFF">
                  <a:alpha val="78000"/>
                </a:srgbClr>
              </a:gs>
              <a:gs pos="100000">
                <a:srgbClr val="FFFFFF">
                  <a:alpha val="52000"/>
                </a:srgbClr>
              </a:gs>
            </a:gsLst>
            <a:lin ang="5400000" scaled="0"/>
          </a:gradFill>
          <a:ln w="15875"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35000"/>
                  </a:srgbClr>
                </a:gs>
              </a:gsLst>
              <a:lin ang="2700000" scaled="0"/>
            </a:gradFill>
          </a:ln>
          <a:effectLst>
            <a:outerShdw blurRad="457200" dist="177800" dir="5400000" algn="t" rotWithShape="0">
              <a:srgbClr val="3B3226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1BC49-2775-2B5A-4AE2-4F736081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Year-level results are invalid: data volume differs by year, so the comparison is highly biased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584200" y="2032000"/>
          <a:ext cx="6197600" cy="386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" name="Source"/>
          <p:cNvSpPr txBox="1"/>
          <p:nvPr/>
        </p:nvSpPr>
        <p:spPr>
          <a:xfrm>
            <a:off x="457200" y="6273800"/>
            <a:ext cx="11277600" cy="2286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666666"/>
                </a:solidFill>
              </a:rPr>
              <a:t>Source: RCA report, Retail Investor Behavior Analysis. Kruskal-Wallis test of price_range_pct by calendar year.</a:t>
            </a:r>
          </a:p>
        </p:txBody>
      </p:sp>
      <p:sp>
        <p:nvSpPr>
          <p:cNvPr id="101" name="Chart pill"/>
          <p:cNvSpPr/>
          <p:nvPr/>
        </p:nvSpPr>
        <p:spPr>
          <a:xfrm>
            <a:off x="711200" y="1562100"/>
            <a:ext cx="4191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OBSERVATIONS BY CALENDAR YEAR</a:t>
            </a:r>
          </a:p>
        </p:txBody>
      </p:sp>
      <p:sp>
        <p:nvSpPr>
          <p:cNvPr id="102" name="Comment card 1"/>
          <p:cNvSpPr/>
          <p:nvPr/>
        </p:nvSpPr>
        <p:spPr>
          <a:xfrm>
            <a:off x="7162800" y="1778000"/>
            <a:ext cx="4572000" cy="1676400"/>
          </a:xfrm>
          <a:prstGeom prst="roundRect">
            <a:avLst>
              <a:gd name="adj" fmla="val 9000"/>
            </a:avLst>
          </a:prstGeom>
          <a:solidFill>
            <a:srgbClr val="FCE8D8"/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254000" tIns="50800" rIns="203200" bIns="50800" anchor="ctr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9A4308"/>
                </a:solidFill>
              </a:rPr>
              <a:t>Result is invalid: </a:t>
            </a:r>
            <a:r>
              <a:rPr lang="en-US" sz="1800" b="1" dirty="0">
                <a:solidFill>
                  <a:srgbClr val="262626"/>
                </a:solidFill>
              </a:rPr>
              <a:t>each year covers a different range of data (n = 20, 80 and 60), which is highly biased.</a:t>
            </a:r>
          </a:p>
        </p:txBody>
      </p:sp>
      <p:sp>
        <p:nvSpPr>
          <p:cNvPr id="103" name="Comment card 2"/>
          <p:cNvSpPr/>
          <p:nvPr/>
        </p:nvSpPr>
        <p:spPr>
          <a:xfrm>
            <a:off x="7162800" y="3594100"/>
            <a:ext cx="4572000" cy="1270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254000" tIns="50800" rIns="203200" bIns="5080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62626"/>
                </a:solidFill>
              </a:rPr>
              <a:t>Price range differs by year</a:t>
            </a:r>
            <a:r>
              <a:rPr lang="en-US" sz="1600" b="0" dirty="0">
                <a:solidFill>
                  <a:srgbClr val="262626"/>
                </a:solidFill>
              </a:rPr>
              <a:t> (Kruskal-Wallis p = 0.023 at ±3d, p = 0.013 at ±5d), with 2025 above 2024 and 2026.</a:t>
            </a:r>
          </a:p>
        </p:txBody>
      </p:sp>
      <p:sp>
        <p:nvSpPr>
          <p:cNvPr id="104" name="Comment card 3"/>
          <p:cNvSpPr/>
          <p:nvPr/>
        </p:nvSpPr>
        <p:spPr>
          <a:xfrm>
            <a:off x="7162800" y="5003800"/>
            <a:ext cx="4572000" cy="1016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254000" tIns="50800" rIns="203200" bIns="50800" anchor="ctr">
            <a:noAutofit/>
          </a:bodyPr>
          <a:lstStyle/>
          <a:p>
            <a:pPr algn="l">
              <a:buNone/>
            </a:pPr>
            <a:r>
              <a:rPr lang="en-US" sz="1600" b="0" dirty="0">
                <a:solidFill>
                  <a:srgbClr val="262626"/>
                </a:solidFill>
              </a:rPr>
              <a:t>The effect is independent of retail bucket, so it adds noise to the High vs Low test.</a:t>
            </a:r>
          </a:p>
        </p:txBody>
      </p:sp>
      <p:sp>
        <p:nvSpPr>
          <p:cNvPr id="150" name="Important pill"/>
          <p:cNvSpPr/>
          <p:nvPr/>
        </p:nvSpPr>
        <p:spPr>
          <a:xfrm>
            <a:off x="7416800" y="1562100"/>
            <a:ext cx="2159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solidFill>
              <a:srgbClr val="FFFFFF"/>
            </a:soli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/>
            <a:r>
              <a:rPr lang="en-US" sz="1400" b="1" spc="80" dirty="0">
                <a:solidFill>
                  <a:srgbClr val="B5530F"/>
                </a:solidFill>
              </a:rPr>
              <a:t>KEY CAVEAT</a:t>
            </a:r>
          </a:p>
        </p:txBody>
      </p:sp>
    </p:spTree>
    <p:extLst>
      <p:ext uri="{BB962C8B-B14F-4D97-AF65-F5344CB8AC3E}">
        <p14:creationId xmlns:p14="http://schemas.microsoft.com/office/powerpoint/2010/main" val="27136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1217-4D45-5DC8-E9E5-8F1373A8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Any reaction is concentrated in the ±3d window, and the ±5d window dilutes it</a:t>
            </a:r>
            <a:endParaRPr lang="en-IN"/>
          </a:p>
        </p:txBody>
      </p:sp>
      <p:sp>
        <p:nvSpPr>
          <p:cNvPr id="41" name="Source"/>
          <p:cNvSpPr txBox="1"/>
          <p:nvPr/>
        </p:nvSpPr>
        <p:spPr>
          <a:xfrm>
            <a:off x="457200" y="6273800"/>
            <a:ext cx="11277600" cy="2286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666666"/>
                </a:solidFill>
              </a:rPr>
              <a:t>Source: RCA report, Retail Investor Behavior Analysis. Wilcoxon signed-rank test, ±3d vs ±5d; Mann-Whitney U, High vs Low retail.</a:t>
            </a:r>
          </a:p>
        </p:txBody>
      </p:sp>
      <p:sp>
        <p:nvSpPr>
          <p:cNvPr id="100" name="Stat card 1"/>
          <p:cNvSpPr/>
          <p:nvPr/>
        </p:nvSpPr>
        <p:spPr>
          <a:xfrm>
            <a:off x="457200" y="2095500"/>
            <a:ext cx="3200400" cy="3175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304800" tIns="431800" rIns="254000" bIns="5080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1F6FB4"/>
                </a:solidFill>
              </a:rPr>
              <a:t>p ≤ 0.002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2000" b="0" dirty="0">
                <a:solidFill>
                  <a:srgbClr val="262626"/>
                </a:solidFill>
              </a:rPr>
              <a:t>±3d values exceed ±5d values for the same stock-quarter, on all 3 metrics.</a:t>
            </a:r>
          </a:p>
        </p:txBody>
      </p:sp>
      <p:sp>
        <p:nvSpPr>
          <p:cNvPr id="101" name="Stat pill 1"/>
          <p:cNvSpPr/>
          <p:nvPr/>
        </p:nvSpPr>
        <p:spPr>
          <a:xfrm>
            <a:off x="685800" y="1879600"/>
            <a:ext cx="2667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WILCOXON SIGNED-RANK</a:t>
            </a:r>
          </a:p>
        </p:txBody>
      </p:sp>
      <p:sp>
        <p:nvSpPr>
          <p:cNvPr id="102" name="Step circle 1"/>
          <p:cNvSpPr/>
          <p:nvPr/>
        </p:nvSpPr>
        <p:spPr>
          <a:xfrm>
            <a:off x="3797300" y="3467100"/>
            <a:ext cx="431800" cy="431800"/>
          </a:xfrm>
          <a:prstGeom prst="ellipse">
            <a:avLst/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01600" dist="38100" dir="5400000" algn="t" rotWithShape="0">
              <a:srgbClr val="3B3226">
                <a:alpha val="20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1F6FB4"/>
                </a:solidFill>
              </a:rPr>
              <a:t>›</a:t>
            </a:r>
          </a:p>
        </p:txBody>
      </p:sp>
      <p:sp>
        <p:nvSpPr>
          <p:cNvPr id="103" name="Stat card 2"/>
          <p:cNvSpPr/>
          <p:nvPr/>
        </p:nvSpPr>
        <p:spPr>
          <a:xfrm>
            <a:off x="4495800" y="2095500"/>
            <a:ext cx="3200400" cy="3175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304800" tIns="431800" rIns="254000" bIns="5080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404040"/>
                </a:solidFill>
              </a:rPr>
              <a:t>±3d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2000" b="0" dirty="0">
                <a:solidFill>
                  <a:srgbClr val="262626"/>
                </a:solidFill>
              </a:rPr>
              <a:t>Any real signal is concentrated in the tight window around results.</a:t>
            </a:r>
          </a:p>
        </p:txBody>
      </p:sp>
      <p:sp>
        <p:nvSpPr>
          <p:cNvPr id="104" name="Stat pill 2"/>
          <p:cNvSpPr/>
          <p:nvPr/>
        </p:nvSpPr>
        <p:spPr>
          <a:xfrm>
            <a:off x="4724400" y="1879600"/>
            <a:ext cx="29464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WHERE THE REACTION SITS</a:t>
            </a:r>
          </a:p>
        </p:txBody>
      </p:sp>
      <p:sp>
        <p:nvSpPr>
          <p:cNvPr id="105" name="Step circle 2"/>
          <p:cNvSpPr/>
          <p:nvPr/>
        </p:nvSpPr>
        <p:spPr>
          <a:xfrm>
            <a:off x="7835900" y="3467100"/>
            <a:ext cx="431800" cy="431800"/>
          </a:xfrm>
          <a:prstGeom prst="ellipse">
            <a:avLst/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01600" dist="38100" dir="5400000" algn="t" rotWithShape="0">
              <a:srgbClr val="3B3226">
                <a:alpha val="20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1F6FB4"/>
                </a:solidFill>
              </a:rPr>
              <a:t>›</a:t>
            </a:r>
          </a:p>
        </p:txBody>
      </p:sp>
      <p:sp>
        <p:nvSpPr>
          <p:cNvPr id="106" name="Stat card 3"/>
          <p:cNvSpPr/>
          <p:nvPr/>
        </p:nvSpPr>
        <p:spPr>
          <a:xfrm>
            <a:off x="8534400" y="2095500"/>
            <a:ext cx="3200400" cy="3175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304800" tIns="431800" rIns="254000" bIns="5080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404040"/>
                </a:solidFill>
              </a:rPr>
              <a:t>p = 0.058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2000" b="0" dirty="0">
                <a:solidFill>
                  <a:srgbClr val="262626"/>
                </a:solidFill>
              </a:rPr>
              <a:t>Realized volatility at ±3d. The ±5d results drift further from significance.</a:t>
            </a:r>
          </a:p>
        </p:txBody>
      </p:sp>
      <p:sp>
        <p:nvSpPr>
          <p:cNvPr id="107" name="Stat pill 3"/>
          <p:cNvSpPr/>
          <p:nvPr/>
        </p:nvSpPr>
        <p:spPr>
          <a:xfrm>
            <a:off x="8763000" y="1879600"/>
            <a:ext cx="2794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CLOSEST MANN-WHITNEY</a:t>
            </a:r>
          </a:p>
        </p:txBody>
      </p:sp>
    </p:spTree>
    <p:extLst>
      <p:ext uri="{BB962C8B-B14F-4D97-AF65-F5344CB8AC3E}">
        <p14:creationId xmlns:p14="http://schemas.microsoft.com/office/powerpoint/2010/main" val="535557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6CA8-682E-C2E1-3C6B-72E709E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Sector is ruled out as the cause of the null result</a:t>
            </a:r>
            <a:endParaRPr lang="en-IN"/>
          </a:p>
        </p:txBody>
      </p:sp>
      <p:sp>
        <p:nvSpPr>
          <p:cNvPr id="36" name="Source"/>
          <p:cNvSpPr txBox="1"/>
          <p:nvPr/>
        </p:nvSpPr>
        <p:spPr>
          <a:xfrm>
            <a:off x="457200" y="6273800"/>
            <a:ext cx="11277600" cy="2286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666666"/>
                </a:solidFill>
              </a:rPr>
              <a:t>Source: RCA report, Retail Investor Behavior Analysis. Chi-square test of independence; 4-group Kruskal-Wallis.</a:t>
            </a:r>
          </a:p>
        </p:txBody>
      </p:sp>
      <p:sp>
        <p:nvSpPr>
          <p:cNvPr id="100" name="Status card 1"/>
          <p:cNvSpPr/>
          <p:nvPr/>
        </p:nvSpPr>
        <p:spPr>
          <a:xfrm>
            <a:off x="457200" y="2095500"/>
            <a:ext cx="11277600" cy="2413000"/>
          </a:xfrm>
          <a:prstGeom prst="roundRect">
            <a:avLst>
              <a:gd name="adj" fmla="val 9000"/>
            </a:avLst>
          </a:prstGeom>
          <a:solidFill>
            <a:srgbClr val="FFFFFF">
              <a:alpha val="8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 scaled="0"/>
            </a:gradFill>
          </a:ln>
          <a:effectLst>
            <a:outerShdw blurRad="127000" dist="38100" dir="5400000" algn="t" rotWithShape="0">
              <a:srgbClr val="3B3226">
                <a:alpha val="12000"/>
              </a:srgbClr>
            </a:outerShdw>
          </a:effectLst>
        </p:spPr>
        <p:txBody>
          <a:bodyPr wrap="square" lIns="355600" tIns="508000" rIns="304800" bIns="5080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4400" b="1" dirty="0">
                <a:solidFill>
                  <a:srgbClr val="1F6FB4"/>
                </a:solidFill>
              </a:rPr>
              <a:t>p = 0.45 to 0.66</a:t>
            </a:r>
          </a:p>
          <a:p>
            <a:pPr algn="l">
              <a:spcBef>
                <a:spcPts val="1600"/>
              </a:spcBef>
              <a:buNone/>
            </a:pPr>
            <a:r>
              <a:rPr lang="en-US" sz="2000" b="0" dirty="0">
                <a:solidFill>
                  <a:srgbClr val="262626"/>
                </a:solidFill>
              </a:rPr>
              <a:t>Chi-square and 4-group Kruskal-Wallis tests across all 6 sector × bucket comparisons. The reversal is not a sector artifact.</a:t>
            </a:r>
          </a:p>
        </p:txBody>
      </p:sp>
      <p:sp>
        <p:nvSpPr>
          <p:cNvPr id="101" name="Status pill 1"/>
          <p:cNvSpPr/>
          <p:nvPr/>
        </p:nvSpPr>
        <p:spPr>
          <a:xfrm>
            <a:off x="736600" y="1879600"/>
            <a:ext cx="1905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RULED OUT</a:t>
            </a:r>
          </a:p>
        </p:txBody>
      </p:sp>
    </p:spTree>
    <p:extLst>
      <p:ext uri="{BB962C8B-B14F-4D97-AF65-F5344CB8AC3E}">
        <p14:creationId xmlns:p14="http://schemas.microsoft.com/office/powerpoint/2010/main" val="539673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able panel"/>
          <p:cNvSpPr/>
          <p:nvPr/>
        </p:nvSpPr>
        <p:spPr>
          <a:xfrm>
            <a:off x="457200" y="1778000"/>
            <a:ext cx="11277600" cy="401320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FFFF">
                  <a:alpha val="78000"/>
                </a:srgbClr>
              </a:gs>
              <a:gs pos="100000">
                <a:srgbClr val="FFFFFF">
                  <a:alpha val="52000"/>
                </a:srgbClr>
              </a:gs>
            </a:gsLst>
            <a:lin ang="5400000" scaled="0"/>
          </a:gradFill>
          <a:ln w="15875"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35000"/>
                  </a:srgbClr>
                </a:gs>
              </a:gsLst>
              <a:lin ang="2700000" scaled="0"/>
            </a:gradFill>
          </a:ln>
          <a:effectLst>
            <a:outerShdw blurRad="457200" dist="177800" dir="5400000" algn="t" rotWithShape="0">
              <a:srgbClr val="3B3226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BEBB4-96E8-E39C-3DC9-8023B1F3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Only IDEA shows a steady retail% decline; ICICIBANK stepped down and IDFCFIRSTB peaked</a:t>
            </a:r>
            <a:endParaRPr lang="en-IN"/>
          </a:p>
        </p:txBody>
      </p:sp>
      <p:graphicFrame>
        <p:nvGraphicFramePr>
          <p:cNvPr id="11" name="Ticker trend table"/>
          <p:cNvGraphicFramePr>
            <a:graphicFrameLocks noGrp="1"/>
          </p:cNvGraphicFramePr>
          <p:nvPr/>
        </p:nvGraphicFramePr>
        <p:xfrm>
          <a:off x="660400" y="2108200"/>
          <a:ext cx="10871200" cy="34544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Ticker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Slope p-value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R²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595959"/>
                          </a:solidFill>
                        </a:rPr>
                        <a:t>Pattern</a:t>
                      </a:r>
                    </a:p>
                  </a:txBody>
                  <a:tcPr marL="355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9595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IDEA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0.005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0.758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1F6FB4"/>
                          </a:solidFill>
                        </a:rPr>
                        <a:t>Steady decline of 1.773 pts per quarter</a:t>
                      </a:r>
                    </a:p>
                  </a:txBody>
                  <a:tcPr marL="355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333333"/>
                          </a:solidFill>
                        </a:rPr>
                        <a:t>ICICIBANK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0.035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0.553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Step-change after 6 flat quarters; the last 2 points drive the fit</a:t>
                      </a:r>
                    </a:p>
                  </a:txBody>
                  <a:tcPr marL="355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333333"/>
                          </a:solidFill>
                        </a:rPr>
                        <a:t>IDFCFIRSTB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0.315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n/a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rgbClr val="333333"/>
                          </a:solidFill>
                        </a:rPr>
                        <a:t>No linear trend; peak in Dec-2024, then decline</a:t>
                      </a:r>
                    </a:p>
                  </a:txBody>
                  <a:tcPr marL="355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ource"/>
          <p:cNvSpPr txBox="1"/>
          <p:nvPr/>
        </p:nvSpPr>
        <p:spPr>
          <a:xfrm>
            <a:off x="457200" y="6273800"/>
            <a:ext cx="11277600" cy="2286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666666"/>
                </a:solidFill>
              </a:rPr>
              <a:t>Source: RCA report, Retail Investor Behavior Analysis. Slope p-value tests a linear trend in public_retail_pct by quarter.</a:t>
            </a:r>
          </a:p>
        </p:txBody>
      </p:sp>
      <p:sp>
        <p:nvSpPr>
          <p:cNvPr id="101" name="Table pill"/>
          <p:cNvSpPr/>
          <p:nvPr/>
        </p:nvSpPr>
        <p:spPr>
          <a:xfrm>
            <a:off x="711200" y="1562100"/>
            <a:ext cx="44450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 w="158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60000"/>
                  </a:srgbClr>
                </a:gs>
              </a:gsLst>
              <a:lin ang="2700000" scaled="0"/>
            </a:gradFill>
          </a:ln>
          <a:effectLst>
            <a:outerShdw blurRad="127000" dist="50800" dir="5400000" algn="t" rotWithShape="0">
              <a:srgbClr val="3B3226">
                <a:alpha val="18000"/>
              </a:srgbClr>
            </a:outerShdw>
          </a:effectLst>
        </p:spPr>
        <p:txBody>
          <a:bodyPr wrap="square" lIns="0" tIns="50800" rIns="0" bIns="508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spc="80" dirty="0">
                <a:solidFill>
                  <a:srgbClr val="174F85"/>
                </a:solidFill>
              </a:rPr>
              <a:t>LINEAR TREND IN RETAIL OWNERSHIP %</a:t>
            </a:r>
          </a:p>
        </p:txBody>
      </p:sp>
    </p:spTree>
    <p:extLst>
      <p:ext uri="{BB962C8B-B14F-4D97-AF65-F5344CB8AC3E}">
        <p14:creationId xmlns:p14="http://schemas.microsoft.com/office/powerpoint/2010/main" val="266981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1541460866]">
  <a:themeElements>
    <a:clrScheme name="Office">
      <a:dk1>
        <a:srgbClr val="333333"/>
      </a:dk1>
      <a:lt1>
        <a:srgbClr val="FFFFFF"/>
      </a:lt1>
      <a:dk2>
        <a:srgbClr val="404040"/>
      </a:dk2>
      <a:lt2>
        <a:srgbClr val="F2F2F2"/>
      </a:lt2>
      <a:accent1>
        <a:srgbClr val="1F6FB4"/>
      </a:accent1>
      <a:accent2>
        <a:srgbClr val="E0782F"/>
      </a:accent2>
      <a:accent3>
        <a:srgbClr val="A6A6A6"/>
      </a:accent3>
      <a:accent4>
        <a:srgbClr val="9CC3E6"/>
      </a:accent4>
      <a:accent5>
        <a:srgbClr val="D9D9D9"/>
      </a:accent5>
      <a:accent6>
        <a:srgbClr val="595959"/>
      </a:accent6>
      <a:hlink>
        <a:srgbClr val="1F6FB4"/>
      </a:hlink>
      <a:folHlink>
        <a:srgbClr val="595959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D5CA2F-295B-41FB-AD35-F127CE0071F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2cbd3eb-5770-4968-9e49-82542cace4b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735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 [1791541460866]</vt:lpstr>
      <vt:lpstr>Retail Ownership vs. Results-Day Erraticness</vt:lpstr>
      <vt:lpstr>Executive summary</vt:lpstr>
      <vt:lpstr>No metric separated High- from Low-retail stocks, and the gap leaned the wrong way</vt:lpstr>
      <vt:lpstr>DII ownership, not retail ownership, carries the significant link to volatility</vt:lpstr>
      <vt:lpstr>Year-level results are invalid: data volume differs by year, so the comparison is highly biased</vt:lpstr>
      <vt:lpstr>Any reaction is concentrated in the ±3d window, and the ±5d window dilutes it</vt:lpstr>
      <vt:lpstr>Sector is ruled out as the cause of the null result</vt:lpstr>
      <vt:lpstr>Only IDEA shows a steady retail% decline; ICICIBANK stepped down and IDFCFIRSTB peaked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Dolui</dc:creator>
  <cp:lastModifiedBy>Pritam Dolui</cp:lastModifiedBy>
  <cp:revision>5</cp:revision>
  <dcterms:created xsi:type="dcterms:W3CDTF">2026-10-09T10:10:20Z</dcterms:created>
  <dcterms:modified xsi:type="dcterms:W3CDTF">2026-10-09T10:35:01Z</dcterms:modified>
</cp:coreProperties>
</file>